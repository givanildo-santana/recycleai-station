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550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3032B-88BE-4732-996B-3880C6C48A36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857B3-55CA-4638-A482-6C5F3D4F7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77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857B3-55CA-4638-A482-6C5F3D4F7CB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1088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857B3-55CA-4638-A482-6C5F3D4F7CB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03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31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49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99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366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82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376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65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6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08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41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459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9228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258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8489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965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00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9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23EC438-21D8-4061-9116-33BB7BB31B1F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D4CDC-C3F5-41FB-BAA7-AAD4B5DBFF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8855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006E48-115A-345D-F967-1D84E842F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8823"/>
            <a:ext cx="9144000" cy="3217355"/>
          </a:xfrm>
        </p:spPr>
        <p:txBody>
          <a:bodyPr>
            <a:normAutofit/>
          </a:bodyPr>
          <a:lstStyle/>
          <a:p>
            <a:pPr algn="ctr"/>
            <a:r>
              <a:rPr lang="pt-BR" sz="3600" dirty="0">
                <a:ea typeface="Calibri" panose="020F0502020204030204" pitchFamily="34" charset="0"/>
                <a:cs typeface="Calibri" panose="020F0502020204030204" pitchFamily="34" charset="0"/>
              </a:rPr>
              <a:t>Desenvolvimento de sistema de triagem de resíduos utilizando inteligência artificial e visão computacional</a:t>
            </a:r>
            <a:b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C7DFB9-1D8A-E1E6-0240-4D73DAA40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22748"/>
            <a:ext cx="9144000" cy="512762"/>
          </a:xfrm>
        </p:spPr>
        <p:txBody>
          <a:bodyPr>
            <a:normAutofit fontScale="25000" lnSpcReduction="20000"/>
          </a:bodyPr>
          <a:lstStyle/>
          <a:p>
            <a:r>
              <a:rPr lang="pt-PT" b="1" dirty="0"/>
              <a:t> </a:t>
            </a:r>
            <a:endParaRPr lang="pt-BR" dirty="0"/>
          </a:p>
          <a:p>
            <a:r>
              <a:rPr lang="pt-PT" sz="8000" b="1" dirty="0">
                <a:cs typeface="Times New Roman" panose="02020603050405020304" pitchFamily="18" charset="0"/>
              </a:rPr>
              <a:t>Trabalho de Conclusão de Curso</a:t>
            </a:r>
            <a:endParaRPr lang="pt-BR" sz="8000" b="1" dirty="0">
              <a:cs typeface="Times New Roman" panose="02020603050405020304" pitchFamily="18" charset="0"/>
            </a:endParaRPr>
          </a:p>
          <a:p>
            <a:r>
              <a:rPr lang="pt-PT" b="1" dirty="0"/>
              <a:t> </a:t>
            </a:r>
            <a:endParaRPr lang="pt-BR" dirty="0"/>
          </a:p>
          <a:p>
            <a:r>
              <a:rPr lang="pt-PT" b="1" dirty="0"/>
              <a:t> </a:t>
            </a:r>
            <a:endParaRPr lang="pt-BR" dirty="0"/>
          </a:p>
          <a:p>
            <a:r>
              <a:rPr lang="pt-PT" b="1" dirty="0"/>
              <a:t> </a:t>
            </a:r>
            <a:endParaRPr lang="pt-BR" dirty="0"/>
          </a:p>
          <a:p>
            <a:r>
              <a:rPr lang="pt-PT" b="1" dirty="0"/>
              <a:t> </a:t>
            </a:r>
            <a:endParaRPr lang="pt-BR" dirty="0"/>
          </a:p>
          <a:p>
            <a:r>
              <a:rPr lang="pt-PT" b="1" dirty="0"/>
              <a:t> </a:t>
            </a:r>
            <a:endParaRPr lang="pt-BR" dirty="0"/>
          </a:p>
          <a:p>
            <a:r>
              <a:rPr lang="pt-PT" b="1" dirty="0"/>
              <a:t> </a:t>
            </a:r>
            <a:endParaRPr lang="pt-BR" dirty="0"/>
          </a:p>
          <a:p>
            <a:r>
              <a:rPr lang="pt-PT" b="1" dirty="0"/>
              <a:t> </a:t>
            </a:r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C20052-DCA3-BAE8-9BCA-BF4EE620758D}"/>
              </a:ext>
            </a:extLst>
          </p:cNvPr>
          <p:cNvSpPr txBox="1"/>
          <p:nvPr/>
        </p:nvSpPr>
        <p:spPr>
          <a:xfrm>
            <a:off x="1741932" y="3264728"/>
            <a:ext cx="8708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dirty="0">
                <a:latin typeface="+mj-lt"/>
                <a:cs typeface="Times New Roman" panose="02020603050405020304" pitchFamily="18" charset="0"/>
              </a:rPr>
              <a:t>Clayton Maciel Tancredo</a:t>
            </a:r>
          </a:p>
          <a:p>
            <a:pPr algn="ctr"/>
            <a:r>
              <a:rPr lang="pt-PT" sz="2000" dirty="0">
                <a:latin typeface="+mj-lt"/>
                <a:cs typeface="Times New Roman" panose="02020603050405020304" pitchFamily="18" charset="0"/>
              </a:rPr>
              <a:t>Givanildo Santana Ribeiro</a:t>
            </a:r>
          </a:p>
          <a:p>
            <a:pPr algn="ctr"/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Luis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Felipe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Nassif</a:t>
            </a:r>
            <a:endParaRPr lang="pt-PT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012850-C5F9-F671-03E8-9627034F33E9}"/>
              </a:ext>
            </a:extLst>
          </p:cNvPr>
          <p:cNvSpPr txBox="1"/>
          <p:nvPr/>
        </p:nvSpPr>
        <p:spPr>
          <a:xfrm>
            <a:off x="7477760" y="5014862"/>
            <a:ext cx="4434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+mj-lt"/>
                <a:cs typeface="Times New Roman" panose="02020603050405020304" pitchFamily="18" charset="0"/>
              </a:rPr>
              <a:t>Curso: Ciência da Computação </a:t>
            </a:r>
          </a:p>
          <a:p>
            <a:r>
              <a:rPr lang="pt-BR" sz="2000" dirty="0">
                <a:latin typeface="+mj-lt"/>
                <a:cs typeface="Times New Roman" panose="02020603050405020304" pitchFamily="18" charset="0"/>
              </a:rPr>
              <a:t>Orientador: Prof. Marco Gomes</a:t>
            </a:r>
          </a:p>
        </p:txBody>
      </p:sp>
    </p:spTree>
    <p:extLst>
      <p:ext uri="{BB962C8B-B14F-4D97-AF65-F5344CB8AC3E}">
        <p14:creationId xmlns:p14="http://schemas.microsoft.com/office/powerpoint/2010/main" val="4179773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42930-66AD-6F1B-7EFC-0AD65717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336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0C18D5-56FE-E24C-2FF8-BAB933255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384800" cy="1738312"/>
          </a:xfrm>
        </p:spPr>
        <p:txBody>
          <a:bodyPr>
            <a:normAutofit/>
          </a:bodyPr>
          <a:lstStyle/>
          <a:p>
            <a:r>
              <a:rPr lang="pt-BR" sz="2400" dirty="0">
                <a:cs typeface="Times New Roman" panose="02020603050405020304" pitchFamily="18" charset="0"/>
              </a:rPr>
              <a:t>O Brasil gera mais de 80 milhões de toneladas de resíduos,</a:t>
            </a:r>
            <a:r>
              <a:rPr lang="pt-BR" sz="2400" dirty="0"/>
              <a:t> </a:t>
            </a:r>
            <a:r>
              <a:rPr lang="pt-BR" sz="2400" b="1" dirty="0">
                <a:cs typeface="Times New Roman" panose="02020603050405020304" pitchFamily="18" charset="0"/>
              </a:rPr>
              <a:t>mas recicla menos de 9%</a:t>
            </a:r>
            <a:r>
              <a:rPr lang="pt-BR" sz="2400" dirty="0">
                <a:cs typeface="Times New Roman" panose="02020603050405020304" pitchFamily="18" charset="0"/>
              </a:rPr>
              <a:t> por ano</a:t>
            </a:r>
            <a:r>
              <a:rPr lang="pt-BR" sz="2400" dirty="0"/>
              <a:t>.</a:t>
            </a:r>
          </a:p>
          <a:p>
            <a:endParaRPr lang="pt-BR" sz="2400" dirty="0"/>
          </a:p>
        </p:txBody>
      </p:sp>
      <p:pic>
        <p:nvPicPr>
          <p:cNvPr id="5" name="Picture 2" descr="RISCO OCUPACIONAL PARA CATADORES DE LIXO RECICLAVEL ...">
            <a:extLst>
              <a:ext uri="{FF2B5EF4-FFF2-40B4-BE49-F238E27FC236}">
                <a16:creationId xmlns:a16="http://schemas.microsoft.com/office/drawing/2014/main" id="{1971CD48-A3B0-210D-8B4A-1677396EC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358" y="1618488"/>
            <a:ext cx="5119541" cy="391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6E1EFE2-D0C0-60A7-837C-F37FC94012CA}"/>
              </a:ext>
            </a:extLst>
          </p:cNvPr>
          <p:cNvSpPr txBox="1">
            <a:spLocks/>
          </p:cNvSpPr>
          <p:nvPr/>
        </p:nvSpPr>
        <p:spPr>
          <a:xfrm>
            <a:off x="838200" y="3048619"/>
            <a:ext cx="5384800" cy="135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sz="2400" dirty="0">
                <a:cs typeface="Times New Roman" panose="02020603050405020304" pitchFamily="18" charset="0"/>
              </a:rPr>
              <a:t>Grande parte da triagem é feita manualmente, em condições precárias. </a:t>
            </a:r>
          </a:p>
          <a:p>
            <a:endParaRPr lang="pt-BR" sz="240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AEF08F6-6655-FD81-1612-B56A5148E6E7}"/>
              </a:ext>
            </a:extLst>
          </p:cNvPr>
          <p:cNvSpPr txBox="1">
            <a:spLocks/>
          </p:cNvSpPr>
          <p:nvPr/>
        </p:nvSpPr>
        <p:spPr>
          <a:xfrm>
            <a:off x="838200" y="4417854"/>
            <a:ext cx="5384800" cy="2024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sz="2400" dirty="0">
                <a:cs typeface="Times New Roman" panose="02020603050405020304" pitchFamily="18" charset="0"/>
              </a:rPr>
              <a:t>Esse cenário mostra a necessidade urgente de soluções acessíveis, seguras e eficientes.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55183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A8393-0683-3669-DF7F-63DAB5B9C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cs typeface="Times New Roman" panose="02020603050405020304" pitchFamily="18" charset="0"/>
              </a:rPr>
              <a:t>Objetivo do Projeto 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846BF6-E048-7B0E-4141-B2BEB9EAA406}"/>
              </a:ext>
            </a:extLst>
          </p:cNvPr>
          <p:cNvSpPr txBox="1"/>
          <p:nvPr/>
        </p:nvSpPr>
        <p:spPr>
          <a:xfrm>
            <a:off x="646111" y="1853248"/>
            <a:ext cx="5943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+mj-lt"/>
                <a:cs typeface="Times New Roman" panose="02020603050405020304" pitchFamily="18" charset="0"/>
              </a:rPr>
              <a:t>A ideia do projeto surgiu ao observar a dificuldade de cooperativas de reciclagem.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+mj-lt"/>
                <a:cs typeface="Times New Roman" panose="02020603050405020304" pitchFamily="18" charset="0"/>
              </a:rPr>
              <a:t>Desenvolver um sistema de triagem automatizada utilizando IA e visão computacional para identificar resíduos recicláveis com baixo custo e alta aplicabilidade.</a:t>
            </a:r>
          </a:p>
        </p:txBody>
      </p:sp>
      <p:pic>
        <p:nvPicPr>
          <p:cNvPr id="15" name="Imagem 14" descr="Multidão de pessoas&#10;&#10;O conteúdo gerado por IA pode estar incorreto.">
            <a:extLst>
              <a:ext uri="{FF2B5EF4-FFF2-40B4-BE49-F238E27FC236}">
                <a16:creationId xmlns:a16="http://schemas.microsoft.com/office/drawing/2014/main" id="{252CA307-35D9-69B1-B139-AAB6C326E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323" y="1301428"/>
            <a:ext cx="4556566" cy="455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3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F874D-F372-882F-69CA-30EF55355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5874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cs typeface="Times New Roman" panose="02020603050405020304" pitchFamily="18" charset="0"/>
              </a:rPr>
              <a:t>Avaliação dos Modelos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7B32BA-41B9-847F-C72C-50025FD31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873"/>
            <a:ext cx="10515600" cy="82613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400" dirty="0">
                <a:cs typeface="Times New Roman" panose="02020603050405020304" pitchFamily="18" charset="0"/>
              </a:rPr>
              <a:t>Foram analisados três modelos de detecção de objetos: YOLOv5, SSD </a:t>
            </a:r>
            <a:r>
              <a:rPr lang="pt-BR" sz="2400" dirty="0" err="1">
                <a:cs typeface="Times New Roman" panose="02020603050405020304" pitchFamily="18" charset="0"/>
              </a:rPr>
              <a:t>MobileNet</a:t>
            </a:r>
            <a:r>
              <a:rPr lang="pt-BR" sz="2400" dirty="0">
                <a:cs typeface="Times New Roman" panose="02020603050405020304" pitchFamily="18" charset="0"/>
              </a:rPr>
              <a:t> e </a:t>
            </a:r>
            <a:r>
              <a:rPr lang="pt-BR" sz="2400" dirty="0" err="1">
                <a:cs typeface="Times New Roman" panose="02020603050405020304" pitchFamily="18" charset="0"/>
              </a:rPr>
              <a:t>Faster</a:t>
            </a:r>
            <a:r>
              <a:rPr lang="pt-BR" sz="2400" dirty="0">
                <a:cs typeface="Times New Roman" panose="02020603050405020304" pitchFamily="18" charset="0"/>
              </a:rPr>
              <a:t> R-CNN</a:t>
            </a:r>
            <a:r>
              <a:rPr lang="pt-BR" sz="2600" dirty="0"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36B855F-07AB-3CAC-405C-BD22EF2F0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771" y="2601324"/>
            <a:ext cx="7252457" cy="22005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7AAEEB5F-FA2F-F1D3-BCB0-5C91CD7272C4}"/>
              </a:ext>
            </a:extLst>
          </p:cNvPr>
          <p:cNvSpPr txBox="1">
            <a:spLocks/>
          </p:cNvSpPr>
          <p:nvPr/>
        </p:nvSpPr>
        <p:spPr>
          <a:xfrm>
            <a:off x="838199" y="5167522"/>
            <a:ext cx="10515600" cy="10554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just"/>
            <a:r>
              <a:rPr lang="pt-BR" sz="2400" dirty="0">
                <a:ea typeface="+mj-ea"/>
                <a:cs typeface="Times New Roman" panose="02020603050405020304" pitchFamily="18" charset="0"/>
              </a:rPr>
              <a:t>O YOLOv5s foi selecionado pela alta velocidade de inferência, baixo custo computacional e boa precisão, sendo adequado para ambientes com hardware limitado</a:t>
            </a:r>
          </a:p>
        </p:txBody>
      </p:sp>
    </p:spTree>
    <p:extLst>
      <p:ext uri="{BB962C8B-B14F-4D97-AF65-F5344CB8AC3E}">
        <p14:creationId xmlns:p14="http://schemas.microsoft.com/office/powerpoint/2010/main" val="329605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61310-714F-8CF0-130E-14F7B81F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Times New Roman" panose="02020603050405020304" pitchFamily="18" charset="0"/>
              </a:rPr>
              <a:t>As vantagens do Yolov5s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079489-3696-FB19-703E-FDC1B41947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931136"/>
            <a:ext cx="6155944" cy="3265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dirty="0">
                <a:cs typeface="Times New Roman" panose="02020603050405020304" pitchFamily="18" charset="0"/>
              </a:rPr>
              <a:t>Detecta resíduos comuns das cooperativas (papel, plástico, metal e vidro)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dirty="0">
                <a:cs typeface="Times New Roman" panose="02020603050405020304" pitchFamily="18" charset="0"/>
              </a:rPr>
              <a:t>Integra facilmente com Python + Arduino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dirty="0">
                <a:cs typeface="Times New Roman" panose="02020603050405020304" pitchFamily="18" charset="0"/>
              </a:rPr>
              <a:t>Permite automação de baixo custo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cs typeface="Times New Roman" panose="02020603050405020304" pitchFamily="18" charset="0"/>
              </a:rPr>
              <a:t>Aumentar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 precisão da separação dos materiais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Melhorar as condições dos trabalhadores</a:t>
            </a:r>
          </a:p>
        </p:txBody>
      </p:sp>
      <p:pic>
        <p:nvPicPr>
          <p:cNvPr id="5" name="Image 13">
            <a:extLst>
              <a:ext uri="{FF2B5EF4-FFF2-40B4-BE49-F238E27FC236}">
                <a16:creationId xmlns:a16="http://schemas.microsoft.com/office/drawing/2014/main" id="{9DFC9941-AA58-CAD9-9600-BF15297EBE6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94144" y="1688104"/>
            <a:ext cx="4715256" cy="358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592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2465B-F677-6D7B-CD02-7E25C273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93C5E9-704E-C60F-544B-120DD68F3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623"/>
            <a:ext cx="4483608" cy="2140531"/>
          </a:xfrm>
        </p:spPr>
        <p:txBody>
          <a:bodyPr>
            <a:normAutofit/>
          </a:bodyPr>
          <a:lstStyle/>
          <a:p>
            <a:r>
              <a:rPr lang="pt-BR" b="1" dirty="0" err="1"/>
              <a:t>Dataset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Dataset</a:t>
            </a:r>
            <a:r>
              <a:rPr lang="pt-BR" dirty="0"/>
              <a:t> manual capturado pelos autores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Organização e anotação no </a:t>
            </a:r>
            <a:r>
              <a:rPr lang="pt-BR" dirty="0" err="1"/>
              <a:t>Roboflow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51FE2E2-6CE3-192E-8387-14CF1BFAE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96" y="1702263"/>
            <a:ext cx="6031993" cy="36524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D842144-F466-C46E-58F8-8905EDDBBFD5}"/>
              </a:ext>
            </a:extLst>
          </p:cNvPr>
          <p:cNvSpPr txBox="1">
            <a:spLocks/>
          </p:cNvSpPr>
          <p:nvPr/>
        </p:nvSpPr>
        <p:spPr>
          <a:xfrm>
            <a:off x="838200" y="3727154"/>
            <a:ext cx="4483608" cy="2140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sz="2000" b="1" dirty="0"/>
              <a:t>Pré-processamento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Redimensionamento 640×640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Normalização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 err="1"/>
              <a:t>Augmentations</a:t>
            </a:r>
            <a:r>
              <a:rPr lang="pt-BR" sz="2000" dirty="0"/>
              <a:t> (rotação, brilho, espelhamento)</a:t>
            </a:r>
          </a:p>
        </p:txBody>
      </p:sp>
    </p:spTree>
    <p:extLst>
      <p:ext uri="{BB962C8B-B14F-4D97-AF65-F5344CB8AC3E}">
        <p14:creationId xmlns:p14="http://schemas.microsoft.com/office/powerpoint/2010/main" val="2134603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9FFD4-560E-9A43-4C12-260B59AE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E362B66E-D718-2BC0-DBA3-8A4A85770153}"/>
              </a:ext>
            </a:extLst>
          </p:cNvPr>
          <p:cNvSpPr txBox="1">
            <a:spLocks/>
          </p:cNvSpPr>
          <p:nvPr/>
        </p:nvSpPr>
        <p:spPr>
          <a:xfrm>
            <a:off x="864864" y="1853248"/>
            <a:ext cx="4483608" cy="2140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b="1" dirty="0"/>
              <a:t>Treinamento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100 épocas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Pesos iniciais </a:t>
            </a:r>
            <a:r>
              <a:rPr lang="pt-BR" i="1" dirty="0"/>
              <a:t>yolov5s.pt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Divisão 80/20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CF0BBD8-834C-7B2A-8E01-85B0F57DA81F}"/>
              </a:ext>
            </a:extLst>
          </p:cNvPr>
          <p:cNvSpPr txBox="1">
            <a:spLocks/>
          </p:cNvSpPr>
          <p:nvPr/>
        </p:nvSpPr>
        <p:spPr>
          <a:xfrm>
            <a:off x="864864" y="3993779"/>
            <a:ext cx="4483608" cy="2140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b="1" dirty="0"/>
              <a:t>Inferência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Webcam captura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YOLOv5s classifica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Classe enviada ao Arduino via Serial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F10587C-BBE5-F85A-B09F-569DC064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375" y="1320030"/>
            <a:ext cx="5870514" cy="444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39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C1719-154A-41D0-BC84-CA9378AB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Hardware utilizado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29C158-C1DF-C976-76B1-6F7E121EFD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720" y="1843879"/>
            <a:ext cx="7514042" cy="3452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Hardware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Webcam para captura do resíduo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Notebook executando o modelo YOLOv5s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2 placas Arduino UNO (master e </a:t>
            </a:r>
            <a:r>
              <a:rPr lang="pt-BR" dirty="0" err="1"/>
              <a:t>slave</a:t>
            </a:r>
            <a:r>
              <a:rPr lang="pt-B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5 drivers BTS7960 para controle dos motores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5 motores DC responsáveis pelos atuadores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Estrutura mecânica da esteira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Fontes de 12V (esteira) e 24V (atuadores)</a:t>
            </a:r>
          </a:p>
        </p:txBody>
      </p:sp>
      <p:pic>
        <p:nvPicPr>
          <p:cNvPr id="6" name="Imagem 5" descr="Computador em cima de mesa de madeira&#10;&#10;O conteúdo gerado por IA pode estar incorreto.">
            <a:extLst>
              <a:ext uri="{FF2B5EF4-FFF2-40B4-BE49-F238E27FC236}">
                <a16:creationId xmlns:a16="http://schemas.microsoft.com/office/drawing/2014/main" id="{6AEC8143-98F0-FC6B-4F85-8584BDA66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1" b="8513"/>
          <a:stretch/>
        </p:blipFill>
        <p:spPr>
          <a:xfrm>
            <a:off x="7104084" y="2131531"/>
            <a:ext cx="4522829" cy="290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4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D5E92-3264-7A06-B97C-29F86183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38922"/>
          </a:xfrm>
        </p:spPr>
        <p:txBody>
          <a:bodyPr/>
          <a:lstStyle/>
          <a:p>
            <a:r>
              <a:rPr lang="pt-BR" dirty="0"/>
              <a:t>Fluxos do Sistema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A2F7BF-B446-F66A-0637-6D8BFC9124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3783" y="1653647"/>
            <a:ext cx="6631879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 Webcam captura o resíduo na esteira</a:t>
            </a: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O modelo YOLOv5s analisa a imagem</a:t>
            </a: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O Python envia a classe detectada ao Arduino</a:t>
            </a: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 Ponte H aciona os motores</a:t>
            </a: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O resíduo é direcionado automaticamente ao compartimento correto</a:t>
            </a:r>
          </a:p>
        </p:txBody>
      </p:sp>
      <p:pic>
        <p:nvPicPr>
          <p:cNvPr id="5" name="Image 14">
            <a:extLst>
              <a:ext uri="{FF2B5EF4-FFF2-40B4-BE49-F238E27FC236}">
                <a16:creationId xmlns:a16="http://schemas.microsoft.com/office/drawing/2014/main" id="{D5E463F5-ABCE-D252-9CDD-7E16208232F1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35662" y="2108299"/>
            <a:ext cx="4552555" cy="29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54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F6BAC-0522-C26B-9B7C-49E488F32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11490"/>
          </a:xfrm>
        </p:spPr>
        <p:txBody>
          <a:bodyPr/>
          <a:lstStyle/>
          <a:p>
            <a:r>
              <a:rPr lang="pt-BR" dirty="0"/>
              <a:t>Resultados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D3B8A1F-E63D-083F-B2DB-60AAC43ACD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5171" y="1782784"/>
            <a:ext cx="5511619" cy="4078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Acurácia média (mAP@0.5): ~90%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mAP@0.5:0.95:</a:t>
            </a:r>
            <a:r>
              <a:rPr lang="pt-BR" sz="2000" dirty="0"/>
              <a:t> ~78%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Precisão:</a:t>
            </a:r>
            <a:r>
              <a:rPr lang="pt-BR" sz="2000" dirty="0"/>
              <a:t> ~95%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Recall:</a:t>
            </a:r>
            <a:r>
              <a:rPr lang="pt-BR" sz="2000" dirty="0"/>
              <a:t> ~90%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Melhor classe:</a:t>
            </a:r>
            <a:r>
              <a:rPr lang="pt-BR" sz="2000" dirty="0"/>
              <a:t> plástico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Classes com maior erro:</a:t>
            </a:r>
            <a:r>
              <a:rPr lang="pt-BR" sz="2000" dirty="0"/>
              <a:t> metal e vidro (reflexos e transparência)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Tempo médio de inferência:</a:t>
            </a:r>
            <a:r>
              <a:rPr lang="pt-BR" sz="2000" dirty="0"/>
              <a:t> &lt; 1 segundo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 descr="Interface gráfica do usuário, Gráfico, Histograma&#10;&#10;O conteúdo gerado por IA pode estar incorreto.">
            <a:extLst>
              <a:ext uri="{FF2B5EF4-FFF2-40B4-BE49-F238E27FC236}">
                <a16:creationId xmlns:a16="http://schemas.microsoft.com/office/drawing/2014/main" id="{28793AFC-43FA-0ADE-D29F-88BC00981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0" y="1664208"/>
            <a:ext cx="5850859" cy="382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83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566F0-210C-EC9D-134B-B6AFBA3B8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7FD92B-A2BD-B782-2AC9-68155AF8F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1" y="1650048"/>
            <a:ext cx="5424489" cy="4272634"/>
          </a:xfrm>
        </p:spPr>
        <p:txBody>
          <a:bodyPr>
            <a:normAutofit/>
          </a:bodyPr>
          <a:lstStyle/>
          <a:p>
            <a:r>
              <a:rPr lang="pt-BR" dirty="0">
                <a:cs typeface="Times New Roman" panose="02020603050405020304" pitchFamily="18" charset="0"/>
              </a:rPr>
              <a:t>O sistema mostrou que é possível automatizar a triagem de resíduos com baixo custo.</a:t>
            </a:r>
            <a:br>
              <a:rPr lang="pt-BR" dirty="0">
                <a:cs typeface="Times New Roman" panose="02020603050405020304" pitchFamily="18" charset="0"/>
              </a:rPr>
            </a:br>
            <a:r>
              <a:rPr lang="pt-BR" dirty="0">
                <a:cs typeface="Times New Roman" panose="02020603050405020304" pitchFamily="18" charset="0"/>
              </a:rPr>
              <a:t>A solução apresentou boa acurácia e velocidade, mesmo em hardware simples.</a:t>
            </a:r>
            <a:br>
              <a:rPr lang="pt-BR" dirty="0">
                <a:cs typeface="Times New Roman" panose="02020603050405020304" pitchFamily="18" charset="0"/>
              </a:rPr>
            </a:br>
            <a:r>
              <a:rPr lang="pt-BR" dirty="0">
                <a:cs typeface="Times New Roman" panose="02020603050405020304" pitchFamily="18" charset="0"/>
              </a:rPr>
              <a:t>O projeto contribui para o ODS 12 (consumo e produção responsáveis), melhorando a eficiência das cooperativas e fornecendo mais segurança aos trabalhadores.</a:t>
            </a:r>
          </a:p>
        </p:txBody>
      </p:sp>
      <p:pic>
        <p:nvPicPr>
          <p:cNvPr id="7170" name="Picture 2" descr="Reciclagem: importância, significado das cores e guia prático para reciclar  - Neoenergia">
            <a:extLst>
              <a:ext uri="{FF2B5EF4-FFF2-40B4-BE49-F238E27FC236}">
                <a16:creationId xmlns:a16="http://schemas.microsoft.com/office/drawing/2014/main" id="{FE840161-3EAD-2AC4-541E-78298B0F5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575" y="1853248"/>
            <a:ext cx="4718337" cy="284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57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4D88B-CAF3-373C-A0E2-B45491E5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728735"/>
            <a:ext cx="9404723" cy="1400530"/>
          </a:xfrm>
        </p:spPr>
        <p:txBody>
          <a:bodyPr/>
          <a:lstStyle/>
          <a:p>
            <a:pPr algn="ctr"/>
            <a:r>
              <a:rPr lang="pt-BR" sz="6600" b="1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737004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264</TotalTime>
  <Words>466</Words>
  <Application>Microsoft Office PowerPoint</Application>
  <PresentationFormat>Widescreen</PresentationFormat>
  <Paragraphs>81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Century Gothic</vt:lpstr>
      <vt:lpstr>Times New Roman</vt:lpstr>
      <vt:lpstr>Wingdings 3</vt:lpstr>
      <vt:lpstr>Íon</vt:lpstr>
      <vt:lpstr>Desenvolvimento de sistema de triagem de resíduos utilizando inteligência artificial e visão computacional </vt:lpstr>
      <vt:lpstr>Introdução</vt:lpstr>
      <vt:lpstr>Objetivo do Projeto  </vt:lpstr>
      <vt:lpstr>Avaliação dos Modelos</vt:lpstr>
      <vt:lpstr>As vantagens do Yolov5s</vt:lpstr>
      <vt:lpstr>Metodologia</vt:lpstr>
      <vt:lpstr>Metodologia</vt:lpstr>
      <vt:lpstr>Hardware utilizado </vt:lpstr>
      <vt:lpstr>Fluxos do Sistema</vt:lpstr>
      <vt:lpstr>Resultados </vt:lpstr>
      <vt:lpstr>Conclusão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nassif</dc:creator>
  <cp:lastModifiedBy>Givanildo Santana</cp:lastModifiedBy>
  <cp:revision>4</cp:revision>
  <dcterms:created xsi:type="dcterms:W3CDTF">2025-11-22T01:08:50Z</dcterms:created>
  <dcterms:modified xsi:type="dcterms:W3CDTF">2025-11-23T01:28:41Z</dcterms:modified>
</cp:coreProperties>
</file>